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/>
      <p:bold r:id="rId10"/>
    </p:embeddedFon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1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386113"/>
            <a:ext cx="142875" cy="19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395638"/>
            <a:ext cx="17145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4386113"/>
            <a:ext cx="238125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281237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ENGINEERING 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33662"/>
            <a:ext cx="11430000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Plus Jakarta Sans"/>
              </a:rPr>
              <a:t>KrishvaMart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94633"/>
            <a:ext cx="7334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Full-stack e-commerce platform with zero-warning static analysis and cloud container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386113"/>
            <a:ext cx="11144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Java 17 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0300" y="4386113"/>
            <a:ext cx="1666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Tomcat &amp; HikariCP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1975" y="4386113"/>
            <a:ext cx="14192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Docker &amp; Cloud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86087"/>
            <a:ext cx="5143500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986087"/>
            <a:ext cx="5143500" cy="1933575"/>
          </a:xfrm>
          <a:prstGeom prst="roundRect">
            <a:avLst>
              <a:gd name="adj" fmla="val 7881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3348037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348037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7152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Architectural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3748087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Uncontrolled stock race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4062412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Unchecked static analysis defects.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4376737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Tightly coupled business orchestration.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748087"/>
            <a:ext cx="5562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369A1"/>
                </a:solidFill>
                <a:latin typeface="Inter"/>
              </a:rPr>
              <a:t>Atomic row-locked inventory updates.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62412"/>
            <a:ext cx="5562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369A1"/>
                </a:solidFill>
                <a:latin typeface="Inter"/>
              </a:rPr>
              <a:t>SpotBugs zero-defect code 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376737"/>
            <a:ext cx="5562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369A1"/>
                </a:solidFill>
                <a:latin typeface="Inter"/>
              </a:rPr>
              <a:t>Strict MVC separation of concerns.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3328987"/>
            <a:ext cx="251281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Legacy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3328987"/>
            <a:ext cx="29003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KrishvaMart Solutions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24187"/>
            <a:ext cx="3403550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924175"/>
            <a:ext cx="3403550" cy="205740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3024187"/>
            <a:ext cx="3403550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328987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50" y="3228975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000" y="3328987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ENGINEERING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7152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Layered Technical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748087"/>
            <a:ext cx="376707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Presentation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4100512"/>
            <a:ext cx="3587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Standard JSTL and EL views.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376737"/>
            <a:ext cx="3587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Modular vanilla JavaScript helpers.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0850" y="3648075"/>
            <a:ext cx="376707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Application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850" y="4000500"/>
            <a:ext cx="3587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Java Servlets and filters.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850" y="4276725"/>
            <a:ext cx="2965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Isolated business domain services.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000" y="3748087"/>
            <a:ext cx="376707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Persistence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000" y="4100512"/>
            <a:ext cx="3587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HikariCP connection pool.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000" y="4376737"/>
            <a:ext cx="3587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Transactional JDBC DAO patterns.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152775"/>
            <a:ext cx="2524125" cy="16002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6625" y="3152775"/>
            <a:ext cx="2524125" cy="16002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52775"/>
            <a:ext cx="2524125" cy="16002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05875" y="3152775"/>
            <a:ext cx="2524125" cy="16002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41947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3419475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41947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5425" y="3419475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PLATFORM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7152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Key Feature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781425"/>
            <a:ext cx="27628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Faceted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4086225"/>
            <a:ext cx="2200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Criteria-based dynamic query builder.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6175" y="3781425"/>
            <a:ext cx="27628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Cart &amp; 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4086225"/>
            <a:ext cx="2200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Atomic multi-item transaction commit.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81425"/>
            <a:ext cx="27628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Recently Viewed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86225"/>
            <a:ext cx="2200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Zero-latency localStorage tracking.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5425" y="3781425"/>
            <a:ext cx="27628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Catalog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5425" y="4086225"/>
            <a:ext cx="2200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Real-time inventory assistant decorator.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1699" y="3419475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70924" y="3419475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STATIC ANALYSIS &amp;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7152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Engineering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287" y="3433762"/>
            <a:ext cx="4437124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Plus Jakarta San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287" y="4348162"/>
            <a:ext cx="44371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Inter"/>
              </a:rPr>
              <a:t>SpotBugs Violations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7512" y="3433762"/>
            <a:ext cx="4437124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Plus Jakarta Sans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512" y="4348162"/>
            <a:ext cx="44371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Inter"/>
              </a:rPr>
              <a:t>Test Suite Pass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6736" y="3433762"/>
            <a:ext cx="4437124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Plus Jakarta Sans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6736" y="4348162"/>
            <a:ext cx="44371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Inter"/>
              </a:rPr>
              <a:t>Java LTS Target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24187"/>
            <a:ext cx="2524125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6625" y="3024187"/>
            <a:ext cx="2524125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024187"/>
            <a:ext cx="2524125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05875" y="3124200"/>
            <a:ext cx="2524125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33562" y="332898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48187" y="332898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62812" y="332898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977437" y="34290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DATA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7152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Atomic Checkout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687" y="33289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642" y="3862387"/>
            <a:ext cx="271283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Lock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234" y="4176712"/>
            <a:ext cx="258365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Pessimistic inventory locking.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5312" y="33289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2267" y="3862387"/>
            <a:ext cx="271283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Decrement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6859" y="4176712"/>
            <a:ext cx="258365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Stock validation and deduction.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9937" y="33289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892" y="3862387"/>
            <a:ext cx="271283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Record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1484" y="4176712"/>
            <a:ext cx="258365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Atomic order item persistence.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4562" y="34290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1517" y="3962400"/>
            <a:ext cx="271283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6109" y="4276725"/>
            <a:ext cx="2583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Cart clearance and sync.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62275"/>
            <a:ext cx="5143500" cy="19812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962275"/>
            <a:ext cx="5143500" cy="19812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3305175"/>
            <a:ext cx="238125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305175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DEVOPS &amp;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7152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Containerized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3724275"/>
            <a:ext cx="58507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Docker Packaging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4105275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Multi-stage Maven build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4400550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Automated first-boot schema seeding.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724275"/>
            <a:ext cx="55626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Cloud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05275"/>
            <a:ext cx="5562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Verified deployment on Render &amp; Railway.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400550"/>
            <a:ext cx="5562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Automatic TLS and health monitoring.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640" y="4338637"/>
            <a:ext cx="22860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57143" y="2290762"/>
            <a:ext cx="14777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IN" sz="1200" b="1" dirty="0">
                <a:solidFill>
                  <a:srgbClr val="38BDF8"/>
                </a:solidFill>
                <a:latin typeface="Plus Jakarta Sans"/>
              </a:rPr>
              <a:t>SERVICE &amp; ASSURANCE</a:t>
            </a:r>
            <a:endParaRPr sz="120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43499" y="2643187"/>
            <a:ext cx="2304991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IN" sz="4200" b="1" dirty="0">
                <a:solidFill>
                  <a:srgbClr val="F8FAFC"/>
                </a:solidFill>
                <a:latin typeface="Plus Jakarta Sans"/>
              </a:rPr>
              <a:t>Thank You</a:t>
            </a:r>
            <a:endParaRPr sz="42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0" y="3500437"/>
            <a:ext cx="76200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 dirty="0">
                <a:solidFill>
                  <a:srgbClr val="94A3B8"/>
                </a:solidFill>
                <a:latin typeface="Inter"/>
              </a:rPr>
              <a:t>Zero static analysis warnings. Production containers verified. Ready for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68241" y="4338637"/>
            <a:ext cx="303599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dirty="0">
                <a:solidFill>
                  <a:srgbClr val="E2E8F0"/>
                </a:solidFill>
                <a:latin typeface="Inter"/>
              </a:rPr>
              <a:t>You’re Quality is our First Priority</a:t>
            </a:r>
            <a:endParaRPr sz="1500" b="1" i="0" u="none" dirty="0">
              <a:solidFill>
                <a:srgbClr val="E2E8F0"/>
              </a:solidFill>
              <a:latin typeface="Inter"/>
            </a:endParaRPr>
          </a:p>
        </p:txBody>
      </p:sp>
      <p:pic>
        <p:nvPicPr>
          <p:cNvPr id="34" name="Graphic 33" descr="Agriculture with solid fill">
            <a:extLst>
              <a:ext uri="{FF2B5EF4-FFF2-40B4-BE49-F238E27FC236}">
                <a16:creationId xmlns:a16="http://schemas.microsoft.com/office/drawing/2014/main" id="{0950FD2A-BAAF-6583-7133-F4CCACE9C7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31" y="92243"/>
            <a:ext cx="914400" cy="914400"/>
          </a:xfrm>
          <a:prstGeom prst="rect">
            <a:avLst/>
          </a:prstGeom>
        </p:spPr>
      </p:pic>
      <p:pic>
        <p:nvPicPr>
          <p:cNvPr id="36" name="Graphic 35" descr="Address Book with solid fill">
            <a:extLst>
              <a:ext uri="{FF2B5EF4-FFF2-40B4-BE49-F238E27FC236}">
                <a16:creationId xmlns:a16="http://schemas.microsoft.com/office/drawing/2014/main" id="{6591A7BD-07AC-8303-04AA-F6D888AEB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753741">
            <a:off x="9994496" y="637394"/>
            <a:ext cx="914400" cy="914400"/>
          </a:xfrm>
          <a:prstGeom prst="rect">
            <a:avLst/>
          </a:prstGeom>
        </p:spPr>
      </p:pic>
      <p:pic>
        <p:nvPicPr>
          <p:cNvPr id="38" name="Graphic 37" descr="Bubbles with solid fill">
            <a:extLst>
              <a:ext uri="{FF2B5EF4-FFF2-40B4-BE49-F238E27FC236}">
                <a16:creationId xmlns:a16="http://schemas.microsoft.com/office/drawing/2014/main" id="{8DD4D69F-377D-1557-984E-9E5448EEE8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49632">
            <a:off x="657576" y="4426719"/>
            <a:ext cx="914400" cy="914400"/>
          </a:xfrm>
          <a:prstGeom prst="rect">
            <a:avLst/>
          </a:prstGeom>
        </p:spPr>
      </p:pic>
      <p:pic>
        <p:nvPicPr>
          <p:cNvPr id="40" name="Graphic 39" descr="Camera with solid fill">
            <a:extLst>
              <a:ext uri="{FF2B5EF4-FFF2-40B4-BE49-F238E27FC236}">
                <a16:creationId xmlns:a16="http://schemas.microsoft.com/office/drawing/2014/main" id="{1F02C963-5807-8D0B-DBBE-487B2E4CB0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631283">
            <a:off x="4189785" y="5398682"/>
            <a:ext cx="914400" cy="914400"/>
          </a:xfrm>
          <a:prstGeom prst="rect">
            <a:avLst/>
          </a:prstGeom>
        </p:spPr>
      </p:pic>
      <p:pic>
        <p:nvPicPr>
          <p:cNvPr id="42" name="Graphic 41" descr="Flowers in pot with solid fill">
            <a:extLst>
              <a:ext uri="{FF2B5EF4-FFF2-40B4-BE49-F238E27FC236}">
                <a16:creationId xmlns:a16="http://schemas.microsoft.com/office/drawing/2014/main" id="{AE42696B-11DC-FDCB-253A-B13E4160A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0243" y="5450230"/>
            <a:ext cx="914400" cy="914400"/>
          </a:xfrm>
          <a:prstGeom prst="rect">
            <a:avLst/>
          </a:prstGeom>
        </p:spPr>
      </p:pic>
      <p:pic>
        <p:nvPicPr>
          <p:cNvPr id="44" name="Graphic 43" descr="New with solid fill">
            <a:extLst>
              <a:ext uri="{FF2B5EF4-FFF2-40B4-BE49-F238E27FC236}">
                <a16:creationId xmlns:a16="http://schemas.microsoft.com/office/drawing/2014/main" id="{AC4C2D36-F0E7-F628-05E1-993D34EA80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8756" y="1977704"/>
            <a:ext cx="665483" cy="665483"/>
          </a:xfrm>
          <a:prstGeom prst="rect">
            <a:avLst/>
          </a:prstGeom>
        </p:spPr>
      </p:pic>
      <p:pic>
        <p:nvPicPr>
          <p:cNvPr id="46" name="Graphic 45" descr="Sunglasses with solid fill">
            <a:extLst>
              <a:ext uri="{FF2B5EF4-FFF2-40B4-BE49-F238E27FC236}">
                <a16:creationId xmlns:a16="http://schemas.microsoft.com/office/drawing/2014/main" id="{C56E68E4-1AF7-00D8-B3CE-ED1AB68952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9901783">
            <a:off x="2601377" y="1404810"/>
            <a:ext cx="775216" cy="77521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247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Plus Jakarta Sans</vt:lpstr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Haya Krishva</cp:lastModifiedBy>
  <cp:revision>2</cp:revision>
  <dcterms:created xsi:type="dcterms:W3CDTF">2013-01-27T09:14:16Z</dcterms:created>
  <dcterms:modified xsi:type="dcterms:W3CDTF">2026-10-08T15:33:42Z</dcterms:modified>
  <cp:category/>
</cp:coreProperties>
</file>